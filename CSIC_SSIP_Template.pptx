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Lato Black" panose="020B0604020202020204" charset="0"/>
      <p:bold r:id="rId16"/>
      <p:boldItalic r:id="rId17"/>
    </p:embeddedFont>
    <p:embeddedFont>
      <p:font typeface="Trebuchet MS" panose="020B0603020202020204" pitchFamily="34" charset="0"/>
      <p:regular r:id="rId18"/>
      <p:bold r:id="rId19"/>
      <p:italic r:id="rId20"/>
      <p:boldItalic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hxSd5N/7N4Ish8BB0YQhfSaMG0E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tish kachhatiya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374461-DE08-46A2-B436-D82A422F3617}">
  <a:tblStyle styleId="{4B374461-DE08-46A2-B436-D82A422F3617}" styleName="Table_0">
    <a:wholeTbl>
      <a:tcTxStyle b="off" i="off">
        <a:font>
          <a:latin typeface="Trebuchet MS"/>
          <a:ea typeface="Trebuchet MS"/>
          <a:cs typeface="Trebuchet M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CEEE7"/>
          </a:solidFill>
        </a:fill>
      </a:tcStyle>
    </a:wholeTbl>
    <a:band1H>
      <a:tcTxStyle/>
      <a:tcStyle>
        <a:tcBdr/>
        <a:fill>
          <a:solidFill>
            <a:srgbClr val="F9DC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9DC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30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3-10-04T14:08:30.401" idx="1">
    <p:pos x="4821" y="1690"/>
    <p:text>Micromobility refers to the use of small, lightweight, and typically electric-powered transportation modes for short-distance travel within urban or suburban areas. These modes of transportation are designed to cover relatively short distances efficiently, making them well-suited for "last-mile" travel, which is the final leg of a person's journey from a transportation hub to their ultimate destination.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commentPostId="AAAA5M4a6G4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5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4242851"/>
            <a:ext cx="8968084" cy="275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5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11716" y="4243845"/>
            <a:ext cx="3077108" cy="27694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5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5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sldNum" idx="12"/>
          </p:nvPr>
        </p:nvSpPr>
        <p:spPr>
          <a:xfrm>
            <a:off x="9255346" y="2750337"/>
            <a:ext cx="1171888" cy="1356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6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16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7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4086907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17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4" y="4087901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7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7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sldNum" idx="12"/>
          </p:nvPr>
        </p:nvSpPr>
        <p:spPr>
          <a:xfrm>
            <a:off x="10729455" y="286989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18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body" idx="1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body" idx="2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9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9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2"/>
          </p:nvPr>
        </p:nvSpPr>
        <p:spPr>
          <a:xfrm>
            <a:off x="680322" y="3030008"/>
            <a:ext cx="4698355" cy="2906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body" idx="3"/>
          </p:nvPr>
        </p:nvSpPr>
        <p:spPr>
          <a:xfrm>
            <a:off x="5820154" y="2336873"/>
            <a:ext cx="4474028" cy="69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body" idx="4"/>
          </p:nvPr>
        </p:nvSpPr>
        <p:spPr>
          <a:xfrm>
            <a:off x="5594123" y="3030008"/>
            <a:ext cx="4700059" cy="2906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20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20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20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1" descr="HD-ShadowShor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1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22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22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2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2"/>
          <p:cNvSpPr txBox="1"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body" idx="1"/>
          </p:nvPr>
        </p:nvSpPr>
        <p:spPr>
          <a:xfrm>
            <a:off x="4685846" y="2336873"/>
            <a:ext cx="5608336" cy="3599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680322" y="2336872"/>
            <a:ext cx="3790078" cy="3599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3" name="Google Shape;93;p22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2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3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3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3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3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3"/>
          <p:cNvSpPr>
            <a:spLocks noGrp="1"/>
          </p:cNvSpPr>
          <p:nvPr>
            <p:ph type="pic" idx="2"/>
          </p:nvPr>
        </p:nvSpPr>
        <p:spPr>
          <a:xfrm>
            <a:off x="4868333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0784"/>
              </a:srgbClr>
            </a:outerShdw>
          </a:effectLst>
        </p:spPr>
      </p:sp>
      <p:sp>
        <p:nvSpPr>
          <p:cNvPr id="103" name="Google Shape;103;p23"/>
          <p:cNvSpPr txBox="1">
            <a:spLocks noGrp="1"/>
          </p:cNvSpPr>
          <p:nvPr>
            <p:ph type="body" idx="1"/>
          </p:nvPr>
        </p:nvSpPr>
        <p:spPr>
          <a:xfrm>
            <a:off x="680323" y="2336873"/>
            <a:ext cx="3876256" cy="359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3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4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4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4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4"/>
          <p:cNvSpPr txBox="1"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4"/>
          <p:cNvSpPr>
            <a:spLocks noGrp="1"/>
          </p:cNvSpPr>
          <p:nvPr>
            <p:ph type="pic" idx="2"/>
          </p:nvPr>
        </p:nvSpPr>
        <p:spPr>
          <a:xfrm>
            <a:off x="680322" y="609597"/>
            <a:ext cx="9613859" cy="3589575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0784"/>
              </a:srgbClr>
            </a:outerShdw>
          </a:effectLst>
        </p:spPr>
      </p:sp>
      <p:sp>
        <p:nvSpPr>
          <p:cNvPr id="114" name="Google Shape;114;p24"/>
          <p:cNvSpPr txBox="1">
            <a:spLocks noGrp="1"/>
          </p:cNvSpPr>
          <p:nvPr>
            <p:ph type="body" idx="1"/>
          </p:nvPr>
        </p:nvSpPr>
        <p:spPr>
          <a:xfrm>
            <a:off x="680319" y="5169583"/>
            <a:ext cx="9613862" cy="622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sldNum" idx="12"/>
          </p:nvPr>
        </p:nvSpPr>
        <p:spPr>
          <a:xfrm>
            <a:off x="10729455" y="4711309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5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5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5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5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5"/>
          <p:cNvSpPr txBox="1"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5"/>
          <p:cNvSpPr txBox="1">
            <a:spLocks noGrp="1"/>
          </p:cNvSpPr>
          <p:nvPr>
            <p:ph type="body" idx="1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5" name="Google Shape;125;p25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5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sldNum" idx="12"/>
          </p:nvPr>
        </p:nvSpPr>
        <p:spPr>
          <a:xfrm>
            <a:off x="10729455" y="471161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6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6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6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6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6"/>
          <p:cNvSpPr txBox="1">
            <a:spLocks noGrp="1"/>
          </p:cNvSpPr>
          <p:nvPr>
            <p:ph type="body" idx="1"/>
          </p:nvPr>
        </p:nvSpPr>
        <p:spPr>
          <a:xfrm>
            <a:off x="1402288" y="3653379"/>
            <a:ext cx="8156579" cy="548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body" idx="2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6"/>
          <p:cNvSpPr txBox="1">
            <a:spLocks noGrp="1"/>
          </p:cNvSpPr>
          <p:nvPr>
            <p:ph type="sldNum" idx="12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26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lang="en-US" sz="7200" b="0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endParaRPr/>
          </a:p>
        </p:txBody>
      </p:sp>
      <p:sp>
        <p:nvSpPr>
          <p:cNvPr id="140" name="Google Shape;140;p2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lang="en-US" sz="7200" b="0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7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7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7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7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7"/>
          <p:cNvSpPr txBox="1"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7"/>
          <p:cNvSpPr txBox="1">
            <a:spLocks noGrp="1"/>
          </p:cNvSpPr>
          <p:nvPr>
            <p:ph type="body" idx="1"/>
          </p:nvPr>
        </p:nvSpPr>
        <p:spPr>
          <a:xfrm>
            <a:off x="680320" y="5300149"/>
            <a:ext cx="9613862" cy="502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8" name="Google Shape;148;p27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7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7"/>
          <p:cNvSpPr txBox="1">
            <a:spLocks noGrp="1"/>
          </p:cNvSpPr>
          <p:nvPr>
            <p:ph type="sldNum" idx="12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8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8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body" idx="2"/>
          </p:nvPr>
        </p:nvSpPr>
        <p:spPr>
          <a:xfrm>
            <a:off x="680322" y="3022673"/>
            <a:ext cx="3049702" cy="291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9" name="Google Shape;159;p28"/>
          <p:cNvSpPr txBox="1">
            <a:spLocks noGrp="1"/>
          </p:cNvSpPr>
          <p:nvPr>
            <p:ph type="body" idx="3"/>
          </p:nvPr>
        </p:nvSpPr>
        <p:spPr>
          <a:xfrm>
            <a:off x="3956025" y="233687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0" name="Google Shape;160;p28"/>
          <p:cNvSpPr txBox="1">
            <a:spLocks noGrp="1"/>
          </p:cNvSpPr>
          <p:nvPr>
            <p:ph type="body" idx="4"/>
          </p:nvPr>
        </p:nvSpPr>
        <p:spPr>
          <a:xfrm>
            <a:off x="3945470" y="3022673"/>
            <a:ext cx="3063240" cy="291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5"/>
          </p:nvPr>
        </p:nvSpPr>
        <p:spPr>
          <a:xfrm>
            <a:off x="7224156" y="2336873"/>
            <a:ext cx="30700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2" name="Google Shape;162;p28"/>
          <p:cNvSpPr txBox="1">
            <a:spLocks noGrp="1"/>
          </p:cNvSpPr>
          <p:nvPr>
            <p:ph type="body" idx="6"/>
          </p:nvPr>
        </p:nvSpPr>
        <p:spPr>
          <a:xfrm>
            <a:off x="7224156" y="3022673"/>
            <a:ext cx="3070025" cy="291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63" name="Google Shape;163;p28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8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8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9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9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9"/>
          <p:cNvSpPr txBox="1"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9"/>
          <p:cNvSpPr txBox="1"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3" name="Google Shape;173;p29"/>
          <p:cNvSpPr>
            <a:spLocks noGrp="1"/>
          </p:cNvSpPr>
          <p:nvPr>
            <p:ph type="pic" idx="2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174" name="Google Shape;174;p29"/>
          <p:cNvSpPr txBox="1">
            <a:spLocks noGrp="1"/>
          </p:cNvSpPr>
          <p:nvPr>
            <p:ph type="body" idx="3"/>
          </p:nvPr>
        </p:nvSpPr>
        <p:spPr>
          <a:xfrm>
            <a:off x="680318" y="4873765"/>
            <a:ext cx="3049705" cy="1062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75" name="Google Shape;175;p29"/>
          <p:cNvSpPr txBox="1">
            <a:spLocks noGrp="1"/>
          </p:cNvSpPr>
          <p:nvPr>
            <p:ph type="body" idx="4"/>
          </p:nvPr>
        </p:nvSpPr>
        <p:spPr>
          <a:xfrm>
            <a:off x="3945471" y="429750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6" name="Google Shape;176;p29"/>
          <p:cNvSpPr>
            <a:spLocks noGrp="1"/>
          </p:cNvSpPr>
          <p:nvPr>
            <p:ph type="pic" idx="5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177" name="Google Shape;177;p29"/>
          <p:cNvSpPr txBox="1">
            <a:spLocks noGrp="1"/>
          </p:cNvSpPr>
          <p:nvPr>
            <p:ph type="body" idx="6"/>
          </p:nvPr>
        </p:nvSpPr>
        <p:spPr>
          <a:xfrm>
            <a:off x="3944117" y="4873764"/>
            <a:ext cx="3067297" cy="1062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78" name="Google Shape;178;p29"/>
          <p:cNvSpPr txBox="1">
            <a:spLocks noGrp="1"/>
          </p:cNvSpPr>
          <p:nvPr>
            <p:ph type="body" idx="7"/>
          </p:nvPr>
        </p:nvSpPr>
        <p:spPr>
          <a:xfrm>
            <a:off x="7230678" y="4297503"/>
            <a:ext cx="306350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9" name="Google Shape;179;p29"/>
          <p:cNvSpPr>
            <a:spLocks noGrp="1"/>
          </p:cNvSpPr>
          <p:nvPr>
            <p:ph type="pic" idx="8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180" name="Google Shape;180;p29"/>
          <p:cNvSpPr txBox="1">
            <a:spLocks noGrp="1"/>
          </p:cNvSpPr>
          <p:nvPr>
            <p:ph type="body" idx="9"/>
          </p:nvPr>
        </p:nvSpPr>
        <p:spPr>
          <a:xfrm>
            <a:off x="7230553" y="4873762"/>
            <a:ext cx="3067563" cy="1062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81" name="Google Shape;181;p29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9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9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0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0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0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0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30"/>
          <p:cNvSpPr txBox="1">
            <a:spLocks noGrp="1"/>
          </p:cNvSpPr>
          <p:nvPr>
            <p:ph type="body" idx="1"/>
          </p:nvPr>
        </p:nvSpPr>
        <p:spPr>
          <a:xfrm rot="5400000">
            <a:off x="3687594" y="-670400"/>
            <a:ext cx="3599316" cy="9613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30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0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0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31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1"/>
          <p:cNvSpPr txBox="1">
            <a:spLocks noGrp="1"/>
          </p:cNvSpPr>
          <p:nvPr>
            <p:ph type="title"/>
          </p:nvPr>
        </p:nvSpPr>
        <p:spPr>
          <a:xfrm rot="5400000">
            <a:off x="8489252" y="2249576"/>
            <a:ext cx="4353760" cy="1073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31"/>
          <p:cNvSpPr txBox="1">
            <a:spLocks noGrp="1"/>
          </p:cNvSpPr>
          <p:nvPr>
            <p:ph type="body" idx="1"/>
          </p:nvPr>
        </p:nvSpPr>
        <p:spPr>
          <a:xfrm rot="5400000">
            <a:off x="2452030" y="-1162110"/>
            <a:ext cx="5326589" cy="887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31"/>
          <p:cNvSpPr txBox="1">
            <a:spLocks noGrp="1"/>
          </p:cNvSpPr>
          <p:nvPr>
            <p:ph type="dt" idx="10"/>
          </p:nvPr>
        </p:nvSpPr>
        <p:spPr>
          <a:xfrm>
            <a:off x="6807126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31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1268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31"/>
          <p:cNvSpPr txBox="1">
            <a:spLocks noGrp="1"/>
          </p:cNvSpPr>
          <p:nvPr>
            <p:ph type="sldNum" idx="12"/>
          </p:nvPr>
        </p:nvSpPr>
        <p:spPr>
          <a:xfrm>
            <a:off x="10097550" y="5398633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8121"/>
            </a:gs>
            <a:gs pos="50000">
              <a:srgbClr val="D54006"/>
            </a:gs>
            <a:gs pos="100000">
              <a:srgbClr val="8C0000"/>
            </a:gs>
          </a:gsLst>
          <a:lin ang="252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4" descr="hashOverlay-FullResolve.png"/>
          <p:cNvPicPr preferRelativeResize="0"/>
          <p:nvPr/>
        </p:nvPicPr>
        <p:blipFill rotWithShape="1">
          <a:blip r:embed="rId19">
            <a:alphaModFix amt="1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4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"/>
          <p:cNvSpPr txBox="1">
            <a:spLocks noGrp="1"/>
          </p:cNvSpPr>
          <p:nvPr>
            <p:ph type="ctrTitle"/>
          </p:nvPr>
        </p:nvSpPr>
        <p:spPr>
          <a:xfrm>
            <a:off x="579738" y="2578261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rebuchet MS"/>
              <a:buNone/>
            </a:pPr>
            <a:r>
              <a:rPr lang="en-US" sz="4800" dirty="0" smtClean="0"/>
              <a:t>Title</a:t>
            </a:r>
            <a:endParaRPr sz="4800" dirty="0"/>
          </a:p>
        </p:txBody>
      </p:sp>
      <p:pic>
        <p:nvPicPr>
          <p:cNvPr id="207" name="Google Shape;20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061" y="2724326"/>
            <a:ext cx="2841307" cy="135389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"/>
          <p:cNvSpPr/>
          <p:nvPr/>
        </p:nvSpPr>
        <p:spPr>
          <a:xfrm>
            <a:off x="350991" y="551209"/>
            <a:ext cx="11910677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Charusat Startup And Innovation Centre (CSIC)</a:t>
            </a:r>
            <a:endParaRPr sz="60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 b="1" dirty="0" smtClean="0"/>
              <a:t>&lt;Title&gt;</a:t>
            </a:r>
            <a:endParaRPr dirty="0"/>
          </a:p>
        </p:txBody>
      </p:sp>
      <p:pic>
        <p:nvPicPr>
          <p:cNvPr id="214" name="Google Shape;21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0101" y="753228"/>
            <a:ext cx="1369123" cy="1080938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"/>
          <p:cNvSpPr txBox="1">
            <a:spLocks noGrp="1"/>
          </p:cNvSpPr>
          <p:nvPr>
            <p:ph type="body" idx="1"/>
          </p:nvPr>
        </p:nvSpPr>
        <p:spPr>
          <a:xfrm>
            <a:off x="680321" y="2153993"/>
            <a:ext cx="10341465" cy="4534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 b="1" dirty="0"/>
              <a:t>Field of Innovation: </a:t>
            </a:r>
            <a:r>
              <a:rPr lang="en-US" sz="2000" b="1" dirty="0" smtClean="0"/>
              <a:t>Name </a:t>
            </a:r>
            <a:r>
              <a:rPr lang="en-US" sz="2000" b="1" dirty="0"/>
              <a:t>of Team Leader/Applicant</a:t>
            </a:r>
            <a:r>
              <a:rPr lang="en-US" sz="2000" b="1" dirty="0" smtClean="0"/>
              <a:t>:</a:t>
            </a:r>
            <a:endParaRPr sz="2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 b="1" dirty="0"/>
              <a:t>Email ID of Team Leader/Applicant: </a:t>
            </a:r>
            <a:endParaRPr lang="en-US" sz="2000" b="1" dirty="0" smtClean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 b="1" dirty="0" smtClean="0"/>
              <a:t>Contact </a:t>
            </a:r>
            <a:r>
              <a:rPr lang="en-US" sz="2000" b="1" dirty="0"/>
              <a:t>No: </a:t>
            </a:r>
            <a:endParaRPr lang="en-US" sz="2000" b="1" dirty="0" smtClean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 b="1" dirty="0" smtClean="0"/>
              <a:t>Gender </a:t>
            </a:r>
            <a:r>
              <a:rPr lang="en-US" sz="2000" b="1" dirty="0"/>
              <a:t>of Team Leader/Applicant: </a:t>
            </a:r>
            <a:endParaRPr lang="en-US" sz="2000" b="1" dirty="0" smtClean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 b="1" dirty="0" smtClean="0"/>
              <a:t>Team </a:t>
            </a:r>
            <a:r>
              <a:rPr lang="en-US" sz="2000" b="1" dirty="0"/>
              <a:t>size: </a:t>
            </a:r>
            <a:endParaRPr sz="2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 b="1" dirty="0"/>
              <a:t>Team Members Name/Innovators: </a:t>
            </a:r>
            <a:endParaRPr lang="en-US" sz="2000" b="1" dirty="0" smtClean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 b="1" dirty="0" smtClean="0"/>
              <a:t>Name </a:t>
            </a:r>
            <a:r>
              <a:rPr lang="en-US" sz="2000" b="1" dirty="0"/>
              <a:t>of </a:t>
            </a:r>
            <a:r>
              <a:rPr lang="en-US" sz="2000" b="1" dirty="0" smtClean="0"/>
              <a:t>Guide With </a:t>
            </a:r>
            <a:r>
              <a:rPr lang="en-US" sz="2000" b="1" dirty="0" err="1" smtClean="0"/>
              <a:t>Employeeid</a:t>
            </a:r>
            <a:r>
              <a:rPr lang="en-US" sz="2000" b="1" dirty="0" smtClean="0"/>
              <a:t>:</a:t>
            </a:r>
            <a:endParaRPr sz="2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 b="1" dirty="0"/>
              <a:t>Email ID of Guide: </a:t>
            </a:r>
            <a:endParaRPr lang="en-US" sz="2000" b="1" dirty="0" smtClean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 b="1" dirty="0" smtClean="0"/>
              <a:t>Guide </a:t>
            </a:r>
            <a:r>
              <a:rPr lang="en-US" sz="2000" b="1" dirty="0"/>
              <a:t>Contact No: </a:t>
            </a:r>
            <a:endParaRPr lang="en-US" sz="2000" b="1" dirty="0" smtClean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 b="1" dirty="0" smtClean="0"/>
              <a:t>Current </a:t>
            </a:r>
            <a:r>
              <a:rPr lang="en-US" sz="2000" b="1" dirty="0"/>
              <a:t>Status</a:t>
            </a:r>
            <a:r>
              <a:rPr lang="en-US" sz="2000" b="1" dirty="0" smtClean="0"/>
              <a:t>: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 b="1" dirty="0"/>
              <a:t>Title of Innovation</a:t>
            </a:r>
            <a:endParaRPr dirty="0"/>
          </a:p>
        </p:txBody>
      </p:sp>
      <p:pic>
        <p:nvPicPr>
          <p:cNvPr id="221" name="Google Shape;22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0101" y="753228"/>
            <a:ext cx="1369123" cy="1080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"/>
          <p:cNvSpPr txBox="1"/>
          <p:nvPr/>
        </p:nvSpPr>
        <p:spPr>
          <a:xfrm>
            <a:off x="536448" y="1029619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ato Black"/>
              <a:buNone/>
            </a:pPr>
            <a:r>
              <a:rPr lang="en-US" sz="3200" b="0" i="0" u="none" strike="noStrike" cap="none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Problem Statement</a:t>
            </a:r>
            <a:endParaRPr sz="3200" b="0" i="0" u="none" strike="noStrike" cap="none">
              <a:solidFill>
                <a:schemeClr val="accen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228" name="Google Shape;22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0101" y="753228"/>
            <a:ext cx="1369123" cy="1080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"/>
          <p:cNvSpPr txBox="1"/>
          <p:nvPr/>
        </p:nvSpPr>
        <p:spPr>
          <a:xfrm>
            <a:off x="499872" y="1093627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ato Black"/>
              <a:buNone/>
            </a:pPr>
            <a:r>
              <a:rPr lang="en-US" sz="3200" b="0" i="0" u="none" strike="noStrike" cap="none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Proposed Solution</a:t>
            </a:r>
            <a:endParaRPr sz="3200" b="0" i="0" u="none" strike="noStrike" cap="none">
              <a:solidFill>
                <a:schemeClr val="accen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235" name="Google Shape;23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0101" y="753228"/>
            <a:ext cx="1369123" cy="1080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"/>
          <p:cNvSpPr txBox="1"/>
          <p:nvPr/>
        </p:nvSpPr>
        <p:spPr>
          <a:xfrm>
            <a:off x="591312" y="1157635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ato Black"/>
              <a:buNone/>
            </a:pPr>
            <a:r>
              <a:rPr lang="en-US" sz="3200" b="0" i="0" u="none" strike="noStrike" cap="none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Product</a:t>
            </a:r>
            <a:endParaRPr sz="3200" b="0" i="0" u="none" strike="noStrike" cap="none">
              <a:solidFill>
                <a:schemeClr val="accen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246" name="Google Shape;24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0101" y="753228"/>
            <a:ext cx="1369123" cy="1080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"/>
          <p:cNvSpPr txBox="1"/>
          <p:nvPr/>
        </p:nvSpPr>
        <p:spPr>
          <a:xfrm>
            <a:off x="536448" y="1166779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ato Black"/>
              <a:buNone/>
            </a:pPr>
            <a:r>
              <a:rPr lang="en-US" sz="3200" b="0" i="0" u="none" strike="noStrike" cap="none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Unique Selling Proposition</a:t>
            </a:r>
            <a:endParaRPr sz="3200" b="0" i="0" u="none" strike="noStrike" cap="none">
              <a:solidFill>
                <a:schemeClr val="accen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260" name="Google Shape;26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0101" y="753228"/>
            <a:ext cx="1369123" cy="1080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"/>
          <p:cNvSpPr txBox="1"/>
          <p:nvPr/>
        </p:nvSpPr>
        <p:spPr>
          <a:xfrm>
            <a:off x="518160" y="1157635"/>
            <a:ext cx="8284029" cy="48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ato Black"/>
              <a:buNone/>
            </a:pPr>
            <a:r>
              <a:rPr lang="en-US" sz="3200" b="0" i="0" u="none" strike="noStrike" cap="none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Market Opportunity</a:t>
            </a:r>
            <a:endParaRPr sz="3200" b="0" i="0" u="none" strike="noStrike" cap="none">
              <a:solidFill>
                <a:schemeClr val="accen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272" name="Google Shape;27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0101" y="753228"/>
            <a:ext cx="1369123" cy="1080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"/>
          <p:cNvSpPr txBox="1"/>
          <p:nvPr/>
        </p:nvSpPr>
        <p:spPr>
          <a:xfrm>
            <a:off x="481584" y="1249075"/>
            <a:ext cx="8284029" cy="48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ato Black"/>
              <a:buNone/>
            </a:pPr>
            <a:r>
              <a:rPr lang="en-US" sz="3200" b="0" i="0" u="none" strike="noStrike" cap="none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Competitors and Competitive Advantage</a:t>
            </a:r>
            <a:endParaRPr sz="3200" b="0" i="0" u="none" strike="noStrike" cap="none">
              <a:solidFill>
                <a:schemeClr val="accen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289" name="Google Shape;28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0101" y="753228"/>
            <a:ext cx="1369123" cy="1080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"/>
          <p:cNvSpPr txBox="1"/>
          <p:nvPr/>
        </p:nvSpPr>
        <p:spPr>
          <a:xfrm>
            <a:off x="509016" y="1258219"/>
            <a:ext cx="8284029" cy="48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ato Black"/>
              <a:buNone/>
            </a:pPr>
            <a:r>
              <a:rPr lang="en-US" sz="3200" b="0" i="0" u="none" strike="noStrike" cap="none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Business Model</a:t>
            </a:r>
            <a:endParaRPr sz="3200" b="0" i="0" u="none" strike="noStrike" cap="none">
              <a:solidFill>
                <a:schemeClr val="accen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315" name="Google Shape;31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0101" y="753228"/>
            <a:ext cx="1369123" cy="1080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"/>
          <p:cNvSpPr txBox="1"/>
          <p:nvPr/>
        </p:nvSpPr>
        <p:spPr>
          <a:xfrm>
            <a:off x="509016" y="1050553"/>
            <a:ext cx="8284029" cy="48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Work Plan</a:t>
            </a:r>
            <a:endParaRPr sz="3200" b="0" i="0" u="none" strike="noStrike" cap="none">
              <a:solidFill>
                <a:schemeClr val="accen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322" name="Google Shape;32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0101" y="753228"/>
            <a:ext cx="1369123" cy="1080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"/>
          <p:cNvSpPr txBox="1"/>
          <p:nvPr/>
        </p:nvSpPr>
        <p:spPr>
          <a:xfrm>
            <a:off x="509016" y="1258219"/>
            <a:ext cx="8284029" cy="48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ato Black"/>
              <a:buNone/>
            </a:pPr>
            <a:r>
              <a:rPr lang="en-US" sz="3200" b="0" i="0" u="none" strike="noStrike" cap="none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Proposed Budget</a:t>
            </a:r>
            <a:endParaRPr sz="3200" b="0" i="0" u="none" strike="noStrike" cap="none">
              <a:solidFill>
                <a:schemeClr val="accen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329" name="Google Shape;32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0101" y="753228"/>
            <a:ext cx="1369123" cy="1080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3"/>
          <p:cNvSpPr txBox="1"/>
          <p:nvPr/>
        </p:nvSpPr>
        <p:spPr>
          <a:xfrm>
            <a:off x="381000" y="1057051"/>
            <a:ext cx="74307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ato Black"/>
              <a:buNone/>
            </a:pPr>
            <a:r>
              <a:rPr lang="en-US" sz="3200" b="0" i="0" u="none" strike="noStrike" cap="none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Your Expectations from </a:t>
            </a:r>
            <a:r>
              <a:rPr lang="en-US" sz="3200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CSIC</a:t>
            </a:r>
            <a:endParaRPr sz="3200" b="0" i="0" u="none" strike="noStrike" cap="none">
              <a:solidFill>
                <a:schemeClr val="accen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336" name="Google Shape;33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0101" y="753228"/>
            <a:ext cx="1369123" cy="1080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erlin">
  <a:themeElements>
    <a:clrScheme name="Berlin">
      <a:dk1>
        <a:srgbClr val="000000"/>
      </a:dk1>
      <a:lt1>
        <a:srgbClr val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84</Words>
  <Application>Microsoft Office PowerPoint</Application>
  <PresentationFormat>Widescreen</PresentationFormat>
  <Paragraphs>24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Lato Black</vt:lpstr>
      <vt:lpstr>Trebuchet MS</vt:lpstr>
      <vt:lpstr>Calibri</vt:lpstr>
      <vt:lpstr>Berlin</vt:lpstr>
      <vt:lpstr>Title</vt:lpstr>
      <vt:lpstr>&lt;Title&gt;</vt:lpstr>
      <vt:lpstr>Title of Innovation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CHARUSAT</dc:creator>
  <cp:lastModifiedBy>dhruval</cp:lastModifiedBy>
  <cp:revision>2</cp:revision>
  <dcterms:created xsi:type="dcterms:W3CDTF">2023-07-12T04:53:56Z</dcterms:created>
  <dcterms:modified xsi:type="dcterms:W3CDTF">2026-07-23T04:55:22Z</dcterms:modified>
</cp:coreProperties>
</file>